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3" r:id="rId2"/>
    <p:sldId id="257" r:id="rId3"/>
    <p:sldId id="259" r:id="rId4"/>
    <p:sldId id="264" r:id="rId5"/>
    <p:sldId id="260" r:id="rId6"/>
    <p:sldId id="261" r:id="rId7"/>
    <p:sldId id="262" r:id="rId8"/>
  </p:sldIdLst>
  <p:sldSz cx="18288000" cy="10287000"/>
  <p:notesSz cx="6858000" cy="9144000"/>
  <p:embeddedFontLst>
    <p:embeddedFont>
      <p:font typeface="Canva Sans" panose="020B0604020202020204" charset="0"/>
      <p:regular r:id="rId9"/>
    </p:embeddedFont>
    <p:embeddedFont>
      <p:font typeface="Cooper BT Bold"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15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1028700"/>
            <a:ext cx="15028067" cy="4572000"/>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9" y="6515100"/>
            <a:ext cx="15028070"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5EB31E-41AC-4B58-B354-356582F7E3B8}"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E1E0E4-9046-4320-B972-C1B5A9D3F31A}" type="slidenum">
              <a:rPr lang="en-IN" smtClean="0"/>
              <a:t>‹#›</a:t>
            </a:fld>
            <a:endParaRPr lang="en-IN"/>
          </a:p>
        </p:txBody>
      </p:sp>
    </p:spTree>
    <p:extLst>
      <p:ext uri="{BB962C8B-B14F-4D97-AF65-F5344CB8AC3E}">
        <p14:creationId xmlns:p14="http://schemas.microsoft.com/office/powerpoint/2010/main" val="115920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53C02C-5105-BCB5-7119-CF06832B6541}"/>
              </a:ext>
            </a:extLst>
          </p:cNvPr>
          <p:cNvSpPr>
            <a:spLocks noGrp="1"/>
          </p:cNvSpPr>
          <p:nvPr>
            <p:ph type="title"/>
          </p:nvPr>
        </p:nvSpPr>
        <p:spPr>
          <a:xfrm>
            <a:off x="2492479" y="1238864"/>
            <a:ext cx="15042278" cy="8300238"/>
          </a:xfrm>
        </p:spPr>
        <p:txBody>
          <a:bodyPr>
            <a:normAutofit fontScale="90000"/>
          </a:bodyPr>
          <a:lstStyle/>
          <a:p>
            <a:pPr algn="l"/>
            <a:r>
              <a:rPr lang="en-IN" sz="4800" b="1" dirty="0">
                <a:latin typeface="Times New Roman" panose="02020603050405020304" pitchFamily="18" charset="0"/>
                <a:cs typeface="Times New Roman" panose="02020603050405020304" pitchFamily="18" charset="0"/>
              </a:rPr>
              <a:t>Team ID </a:t>
            </a:r>
            <a:r>
              <a:rPr lang="en-IN" sz="5400" dirty="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H26DSI07</a:t>
            </a:r>
            <a:br>
              <a:rPr lang="en-IN" sz="3600" dirty="0">
                <a:latin typeface="Times New Roman" panose="02020603050405020304" pitchFamily="18" charset="0"/>
                <a:cs typeface="Times New Roman" panose="02020603050405020304" pitchFamily="18" charset="0"/>
              </a:rPr>
            </a:br>
            <a:br>
              <a:rPr lang="en-IN" sz="3600" dirty="0">
                <a:latin typeface="Times New Roman" panose="02020603050405020304" pitchFamily="18" charset="0"/>
                <a:cs typeface="Times New Roman" panose="02020603050405020304" pitchFamily="18" charset="0"/>
              </a:rPr>
            </a:br>
            <a:r>
              <a:rPr lang="en-IN" sz="5400" dirty="0">
                <a:latin typeface="Times New Roman" panose="02020603050405020304" pitchFamily="18" charset="0"/>
                <a:cs typeface="Times New Roman" panose="02020603050405020304" pitchFamily="18" charset="0"/>
              </a:rPr>
              <a:t>P</a:t>
            </a:r>
            <a:r>
              <a:rPr lang="en-IN" sz="4800" b="1" dirty="0">
                <a:latin typeface="Times New Roman" panose="02020603050405020304" pitchFamily="18" charset="0"/>
                <a:cs typeface="Times New Roman" panose="02020603050405020304" pitchFamily="18" charset="0"/>
              </a:rPr>
              <a:t>roject Title </a:t>
            </a:r>
            <a:r>
              <a:rPr lang="en-IN" sz="4800" dirty="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SENTINEL – AI ( An Autonomous application security platform          				      focusing SAST)</a:t>
            </a:r>
            <a:br>
              <a:rPr lang="en-IN" sz="4800" dirty="0">
                <a:latin typeface="Times New Roman" panose="02020603050405020304" pitchFamily="18" charset="0"/>
                <a:cs typeface="Times New Roman" panose="02020603050405020304" pitchFamily="18" charset="0"/>
              </a:rPr>
            </a:br>
            <a:br>
              <a:rPr lang="en-IN" sz="4800" b="1" dirty="0">
                <a:latin typeface="Times New Roman" panose="02020603050405020304" pitchFamily="18" charset="0"/>
                <a:cs typeface="Times New Roman" panose="02020603050405020304" pitchFamily="18" charset="0"/>
              </a:rPr>
            </a:br>
            <a:r>
              <a:rPr lang="en-IN" sz="4800" b="1" dirty="0">
                <a:latin typeface="Times New Roman" panose="02020603050405020304" pitchFamily="18" charset="0"/>
                <a:cs typeface="Times New Roman" panose="02020603050405020304" pitchFamily="18" charset="0"/>
              </a:rPr>
              <a:t>Team Leader </a:t>
            </a:r>
            <a:r>
              <a:rPr lang="en-IN" sz="4800" dirty="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JEBIN RUFUS R </a:t>
            </a:r>
            <a:br>
              <a:rPr lang="en-IN" sz="3600" dirty="0">
                <a:latin typeface="Times New Roman" panose="02020603050405020304" pitchFamily="18" charset="0"/>
                <a:cs typeface="Times New Roman" panose="02020603050405020304" pitchFamily="18" charset="0"/>
              </a:rPr>
            </a:br>
            <a:br>
              <a:rPr lang="en-IN" sz="4800" dirty="0">
                <a:latin typeface="Times New Roman" panose="02020603050405020304" pitchFamily="18" charset="0"/>
                <a:cs typeface="Times New Roman" panose="02020603050405020304" pitchFamily="18" charset="0"/>
              </a:rPr>
            </a:br>
            <a:r>
              <a:rPr lang="en-IN" sz="4800" b="1" dirty="0">
                <a:latin typeface="Times New Roman" panose="02020603050405020304" pitchFamily="18" charset="0"/>
                <a:cs typeface="Times New Roman" panose="02020603050405020304" pitchFamily="18" charset="0"/>
              </a:rPr>
              <a:t>Team Members </a:t>
            </a:r>
            <a:r>
              <a:rPr lang="en-IN" sz="5400" dirty="0">
                <a:latin typeface="Times New Roman" panose="02020603050405020304" pitchFamily="18" charset="0"/>
                <a:cs typeface="Times New Roman" panose="02020603050405020304" pitchFamily="18" charset="0"/>
              </a:rPr>
              <a:t>: </a:t>
            </a:r>
            <a:br>
              <a:rPr lang="en-IN" sz="54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1. JOSHUA DANIELL A</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2. HARSHINI A </a:t>
            </a:r>
            <a:br>
              <a:rPr lang="en-IN" sz="3600" dirty="0">
                <a:latin typeface="Times New Roman" panose="02020603050405020304" pitchFamily="18" charset="0"/>
                <a:cs typeface="Times New Roman" panose="02020603050405020304" pitchFamily="18" charset="0"/>
              </a:rPr>
            </a:br>
            <a:br>
              <a:rPr lang="en-IN" sz="4200" dirty="0">
                <a:latin typeface="Times New Roman" panose="02020603050405020304" pitchFamily="18" charset="0"/>
                <a:cs typeface="Times New Roman" panose="02020603050405020304" pitchFamily="18" charset="0"/>
              </a:rPr>
            </a:br>
            <a:r>
              <a:rPr lang="en-IN" sz="4800" b="1" dirty="0">
                <a:latin typeface="Times New Roman" panose="02020603050405020304" pitchFamily="18" charset="0"/>
                <a:cs typeface="Times New Roman" panose="02020603050405020304" pitchFamily="18" charset="0"/>
              </a:rPr>
              <a:t>College</a:t>
            </a:r>
            <a:r>
              <a:rPr lang="en-IN" sz="4800" dirty="0">
                <a:latin typeface="Times New Roman" panose="02020603050405020304" pitchFamily="18" charset="0"/>
                <a:cs typeface="Times New Roman" panose="02020603050405020304" pitchFamily="18" charset="0"/>
              </a:rPr>
              <a:t> </a:t>
            </a:r>
            <a:r>
              <a:rPr lang="en-IN" sz="5400" dirty="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RAJALAKSHMI INSTITUTE OF TECHNOLOGY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6240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688CD-0C44-346D-30D0-60518247EA89}"/>
              </a:ext>
            </a:extLst>
          </p:cNvPr>
          <p:cNvSpPr>
            <a:spLocks noGrp="1"/>
          </p:cNvSpPr>
          <p:nvPr>
            <p:ph type="title"/>
          </p:nvPr>
        </p:nvSpPr>
        <p:spPr>
          <a:xfrm>
            <a:off x="1600200" y="1333500"/>
            <a:ext cx="8229600" cy="1143000"/>
          </a:xfrm>
        </p:spPr>
        <p:txBody>
          <a:bodyPr>
            <a:normAutofit/>
          </a:bodyPr>
          <a:lstStyle/>
          <a:p>
            <a:r>
              <a:rPr lang="en-IN" sz="48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48ED2BCE-902C-E384-51DB-26D27B26F471}"/>
              </a:ext>
            </a:extLst>
          </p:cNvPr>
          <p:cNvSpPr>
            <a:spLocks noGrp="1"/>
          </p:cNvSpPr>
          <p:nvPr>
            <p:ph idx="1"/>
          </p:nvPr>
        </p:nvSpPr>
        <p:spPr>
          <a:xfrm>
            <a:off x="2133600" y="3573779"/>
            <a:ext cx="15028070" cy="3139441"/>
          </a:xfrm>
        </p:spPr>
        <p:txBody>
          <a:bodyPr/>
          <a:lstStyle/>
          <a:p>
            <a:pPr marL="0" indent="0">
              <a:lnSpc>
                <a:spcPct val="150000"/>
              </a:lnSpc>
              <a:buNone/>
            </a:pPr>
            <a:r>
              <a:rPr lang="en-US" dirty="0"/>
              <a:t>As software systems become larger and AI accelerates software development, security vulnerabilities are becoming harder to identify. Current static analysis tools often struggle to understand application context, leading To incomplete or less effective security analysis</a:t>
            </a:r>
          </a:p>
          <a:p>
            <a:pPr marL="0" indent="0">
              <a:lnSpc>
                <a:spcPct val="150000"/>
              </a:lnSpc>
              <a:buNone/>
            </a:pPr>
            <a:endParaRPr lang="en-US" dirty="0"/>
          </a:p>
          <a:p>
            <a:pPr marL="0" indent="0">
              <a:lnSpc>
                <a:spcPct val="150000"/>
              </a:lnSpc>
              <a:buNone/>
            </a:pPr>
            <a:endParaRPr lang="en-IN" dirty="0"/>
          </a:p>
        </p:txBody>
      </p:sp>
    </p:spTree>
    <p:extLst>
      <p:ext uri="{BB962C8B-B14F-4D97-AF65-F5344CB8AC3E}">
        <p14:creationId xmlns:p14="http://schemas.microsoft.com/office/powerpoint/2010/main" val="2266036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186BA-3CEF-D969-EC01-0B080E4B5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8AD79-A905-6AF3-ABC2-34014E436C9B}"/>
              </a:ext>
            </a:extLst>
          </p:cNvPr>
          <p:cNvSpPr>
            <a:spLocks noGrp="1"/>
          </p:cNvSpPr>
          <p:nvPr>
            <p:ph type="title"/>
          </p:nvPr>
        </p:nvSpPr>
        <p:spPr>
          <a:xfrm>
            <a:off x="1388267" y="-388620"/>
            <a:ext cx="15028070" cy="2628899"/>
          </a:xfrm>
        </p:spPr>
        <p:txBody>
          <a:bodyPr>
            <a:normAutofit/>
          </a:bodyPr>
          <a:lstStyle/>
          <a:p>
            <a:r>
              <a:rPr lang="en-IN" sz="4800" b="1" dirty="0">
                <a:latin typeface="Times New Roman" panose="02020603050405020304" pitchFamily="18" charset="0"/>
                <a:cs typeface="Times New Roman" panose="02020603050405020304" pitchFamily="18" charset="0"/>
              </a:rPr>
              <a:t>SYSTEM DESIGN</a:t>
            </a:r>
          </a:p>
        </p:txBody>
      </p:sp>
      <p:pic>
        <p:nvPicPr>
          <p:cNvPr id="5" name="Content Placeholder 4">
            <a:extLst>
              <a:ext uri="{FF2B5EF4-FFF2-40B4-BE49-F238E27FC236}">
                <a16:creationId xmlns:a16="http://schemas.microsoft.com/office/drawing/2014/main" id="{21EB6343-FF2C-FBF3-A495-DB49BB48FE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56" y="0"/>
            <a:ext cx="18305856" cy="10287000"/>
          </a:xfrm>
          <a:prstGeom prst="rect">
            <a:avLst/>
          </a:prstGeom>
        </p:spPr>
      </p:pic>
    </p:spTree>
    <p:extLst>
      <p:ext uri="{BB962C8B-B14F-4D97-AF65-F5344CB8AC3E}">
        <p14:creationId xmlns:p14="http://schemas.microsoft.com/office/powerpoint/2010/main" val="1002113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111D9417-1A00-4D54-C468-1F43477BC671}"/>
              </a:ext>
            </a:extLst>
          </p:cNvPr>
          <p:cNvSpPr>
            <a:spLocks noGrp="1"/>
          </p:cNvSpPr>
          <p:nvPr>
            <p:ph type="title"/>
          </p:nvPr>
        </p:nvSpPr>
        <p:spPr>
          <a:xfrm>
            <a:off x="533400" y="594528"/>
            <a:ext cx="11272684" cy="1131938"/>
          </a:xfrm>
        </p:spPr>
        <p:txBody>
          <a:bodyPr>
            <a:normAutofit/>
          </a:bodyPr>
          <a:lstStyle/>
          <a:p>
            <a:r>
              <a:rPr lang="en-IN" sz="3600" b="1" dirty="0">
                <a:latin typeface="Times New Roman" panose="02020603050405020304" pitchFamily="18" charset="0"/>
                <a:cs typeface="Times New Roman" panose="02020603050405020304" pitchFamily="18" charset="0"/>
              </a:rPr>
              <a:t>EXISTING SOLUTIONS AND GAPS :</a:t>
            </a:r>
          </a:p>
        </p:txBody>
      </p:sp>
      <p:sp>
        <p:nvSpPr>
          <p:cNvPr id="6" name="TextBox 5">
            <a:extLst>
              <a:ext uri="{FF2B5EF4-FFF2-40B4-BE49-F238E27FC236}">
                <a16:creationId xmlns:a16="http://schemas.microsoft.com/office/drawing/2014/main" id="{E6F55EB5-873B-6483-D0B7-EDAA28A7335C}"/>
              </a:ext>
            </a:extLst>
          </p:cNvPr>
          <p:cNvSpPr txBox="1"/>
          <p:nvPr/>
        </p:nvSpPr>
        <p:spPr>
          <a:xfrm>
            <a:off x="2232332" y="1474838"/>
            <a:ext cx="15294080" cy="8217634"/>
          </a:xfrm>
          <a:prstGeom prst="rect">
            <a:avLst/>
          </a:prstGeom>
          <a:noFill/>
        </p:spPr>
        <p:txBody>
          <a:bodyPr wrap="square" rtlCol="0">
            <a:spAutoFit/>
          </a:bodyPr>
          <a:lstStyle/>
          <a:p>
            <a:endParaRPr lang="en-IN" sz="3000" b="1" dirty="0"/>
          </a:p>
          <a:p>
            <a:r>
              <a:rPr lang="en-IN" sz="3000" b="1" dirty="0">
                <a:latin typeface="Times New Roman" panose="02020603050405020304" pitchFamily="18" charset="0"/>
                <a:cs typeface="Times New Roman" panose="02020603050405020304" pitchFamily="18" charset="0"/>
              </a:rPr>
              <a:t>1.SonarQube : </a:t>
            </a:r>
            <a:br>
              <a:rPr lang="en-IN" sz="2700" dirty="0"/>
            </a:br>
            <a:r>
              <a:rPr lang="en-IN" sz="2700" dirty="0">
                <a:latin typeface="Times New Roman" panose="02020603050405020304" pitchFamily="18" charset="0"/>
                <a:cs typeface="Times New Roman" panose="02020603050405020304" pitchFamily="18" charset="0"/>
              </a:rPr>
              <a:t>Algorithm Used : Rule-Based Static Analysis</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Research Paper : P/Taint: Unified Points-to and Taint Analysis (2017)</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Authors : Neville Grech, Yannis </a:t>
            </a:r>
            <a:r>
              <a:rPr lang="en-IN" sz="2700" dirty="0" err="1">
                <a:latin typeface="Times New Roman" panose="02020603050405020304" pitchFamily="18" charset="0"/>
                <a:cs typeface="Times New Roman" panose="02020603050405020304" pitchFamily="18" charset="0"/>
              </a:rPr>
              <a:t>Smaragdakis</a:t>
            </a:r>
            <a:endParaRPr lang="en-IN" sz="2700" dirty="0">
              <a:latin typeface="Times New Roman" panose="02020603050405020304" pitchFamily="18" charset="0"/>
              <a:cs typeface="Times New Roman" panose="02020603050405020304" pitchFamily="18" charset="0"/>
            </a:endParaRPr>
          </a:p>
          <a:p>
            <a:r>
              <a:rPr lang="en-IN" sz="2700" dirty="0">
                <a:latin typeface="Times New Roman" panose="02020603050405020304" pitchFamily="18" charset="0"/>
                <a:cs typeface="Times New Roman" panose="02020603050405020304" pitchFamily="18" charset="0"/>
              </a:rPr>
              <a:t>Limitation : Heavily relies on rigid pattern matching , resulting in massive volumes </a:t>
            </a:r>
            <a:r>
              <a:rPr lang="en-IN" sz="2700">
                <a:latin typeface="Times New Roman" panose="02020603050405020304" pitchFamily="18" charset="0"/>
                <a:cs typeface="Times New Roman" panose="02020603050405020304" pitchFamily="18" charset="0"/>
              </a:rPr>
              <a:t>of false </a:t>
            </a:r>
            <a:r>
              <a:rPr lang="en-IN" sz="2700" dirty="0">
                <a:latin typeface="Times New Roman" panose="02020603050405020304" pitchFamily="18" charset="0"/>
                <a:cs typeface="Times New Roman" panose="02020603050405020304" pitchFamily="18" charset="0"/>
              </a:rPr>
              <a:t>positives.</a:t>
            </a:r>
            <a:r>
              <a:rPr lang="en-US" sz="2700" dirty="0">
                <a:solidFill>
                  <a:srgbClr val="000000"/>
                </a:solidFill>
                <a:latin typeface="Canva Sans"/>
                <a:ea typeface="Canva Sans"/>
                <a:cs typeface="Canva Sans"/>
                <a:sym typeface="Canva Sans"/>
              </a:rPr>
              <a:t> </a:t>
            </a:r>
          </a:p>
          <a:p>
            <a:r>
              <a:rPr lang="en-IN" sz="2700" dirty="0">
                <a:latin typeface="Times New Roman" panose="02020603050405020304" pitchFamily="18" charset="0"/>
                <a:cs typeface="Times New Roman" panose="02020603050405020304" pitchFamily="18" charset="0"/>
              </a:rPr>
              <a:t> </a:t>
            </a:r>
            <a:r>
              <a:rPr lang="en-IN" sz="3000" b="1" dirty="0">
                <a:latin typeface="Times New Roman" panose="02020603050405020304" pitchFamily="18" charset="0"/>
                <a:cs typeface="Times New Roman" panose="02020603050405020304" pitchFamily="18" charset="0"/>
              </a:rPr>
              <a:t>2.Snyk : </a:t>
            </a:r>
            <a:r>
              <a:rPr lang="en-IN" sz="2700" dirty="0"/>
              <a:t> </a:t>
            </a:r>
          </a:p>
          <a:p>
            <a:r>
              <a:rPr lang="en-IN" sz="2700" dirty="0">
                <a:latin typeface="Times New Roman" panose="02020603050405020304" pitchFamily="18" charset="0"/>
                <a:cs typeface="Times New Roman" panose="02020603050405020304" pitchFamily="18" charset="0"/>
              </a:rPr>
              <a:t>Algorithm Used </a:t>
            </a:r>
            <a:r>
              <a:rPr lang="en-IN" sz="2700" dirty="0"/>
              <a:t>: </a:t>
            </a:r>
            <a:r>
              <a:rPr lang="en-IN" sz="2700" dirty="0">
                <a:latin typeface="Times New Roman" panose="02020603050405020304" pitchFamily="18" charset="0"/>
                <a:cs typeface="Times New Roman" panose="02020603050405020304" pitchFamily="18" charset="0"/>
              </a:rPr>
              <a:t>Software Composition Analysis (SCA)</a:t>
            </a:r>
          </a:p>
          <a:p>
            <a:r>
              <a:rPr lang="en-IN" sz="2700" dirty="0">
                <a:latin typeface="Times New Roman" panose="02020603050405020304" pitchFamily="18" charset="0"/>
                <a:cs typeface="Times New Roman" panose="02020603050405020304" pitchFamily="18" charset="0"/>
              </a:rPr>
              <a:t>Research Paper : The Dynamics of Software Composition Analysis (2019)</a:t>
            </a:r>
          </a:p>
          <a:p>
            <a:r>
              <a:rPr lang="en-IN" sz="2700" dirty="0">
                <a:latin typeface="Times New Roman" panose="02020603050405020304" pitchFamily="18" charset="0"/>
                <a:cs typeface="Times New Roman" panose="02020603050405020304" pitchFamily="18" charset="0"/>
              </a:rPr>
              <a:t>Authors : Darius Foo, Jason Yeo, Hao Xiao, </a:t>
            </a:r>
            <a:r>
              <a:rPr lang="en-IN" sz="2700" dirty="0" err="1">
                <a:latin typeface="Times New Roman" panose="02020603050405020304" pitchFamily="18" charset="0"/>
                <a:cs typeface="Times New Roman" panose="02020603050405020304" pitchFamily="18" charset="0"/>
              </a:rPr>
              <a:t>Asankhaya</a:t>
            </a:r>
            <a:r>
              <a:rPr lang="en-IN" sz="2700" dirty="0">
                <a:latin typeface="Times New Roman" panose="02020603050405020304" pitchFamily="18" charset="0"/>
                <a:cs typeface="Times New Roman" panose="02020603050405020304" pitchFamily="18" charset="0"/>
              </a:rPr>
              <a:t> Sharma </a:t>
            </a:r>
          </a:p>
          <a:p>
            <a:endParaRPr lang="en-IN" sz="2700" dirty="0">
              <a:latin typeface="Times New Roman" panose="02020603050405020304" pitchFamily="18" charset="0"/>
              <a:cs typeface="Times New Roman" panose="02020603050405020304" pitchFamily="18" charset="0"/>
            </a:endParaRPr>
          </a:p>
          <a:p>
            <a:endParaRPr lang="en-IN" sz="3000" b="1" dirty="0">
              <a:latin typeface="Times New Roman" panose="02020603050405020304" pitchFamily="18" charset="0"/>
              <a:cs typeface="Times New Roman" panose="02020603050405020304" pitchFamily="18" charset="0"/>
            </a:endParaRPr>
          </a:p>
          <a:p>
            <a:r>
              <a:rPr lang="en-IN" sz="3000" b="1" dirty="0">
                <a:latin typeface="Times New Roman" panose="02020603050405020304" pitchFamily="18" charset="0"/>
                <a:cs typeface="Times New Roman" panose="02020603050405020304" pitchFamily="18" charset="0"/>
              </a:rPr>
              <a:t>3. GitHub Copilot : </a:t>
            </a:r>
          </a:p>
          <a:p>
            <a:r>
              <a:rPr lang="en-IN" sz="2700" dirty="0">
                <a:latin typeface="Times New Roman" panose="02020603050405020304" pitchFamily="18" charset="0"/>
                <a:cs typeface="Times New Roman" panose="02020603050405020304" pitchFamily="18" charset="0"/>
              </a:rPr>
              <a:t>Algorithm Used : OpenAI Codex</a:t>
            </a:r>
          </a:p>
          <a:p>
            <a:r>
              <a:rPr lang="en-IN" sz="2700" dirty="0">
                <a:latin typeface="Times New Roman" panose="02020603050405020304" pitchFamily="18" charset="0"/>
                <a:cs typeface="Times New Roman" panose="02020603050405020304" pitchFamily="18" charset="0"/>
              </a:rPr>
              <a:t>Research Paper : Evaluating Large Language Models Trained on Code(2021)</a:t>
            </a:r>
          </a:p>
          <a:p>
            <a:r>
              <a:rPr lang="en-IN" sz="2700" dirty="0">
                <a:latin typeface="Times New Roman" panose="02020603050405020304" pitchFamily="18" charset="0"/>
                <a:cs typeface="Times New Roman" panose="02020603050405020304" pitchFamily="18" charset="0"/>
              </a:rPr>
              <a:t>Authors : Mark Chen et al </a:t>
            </a:r>
          </a:p>
          <a:p>
            <a:r>
              <a:rPr lang="en-IN" sz="2700" dirty="0">
                <a:latin typeface="Times New Roman" panose="02020603050405020304" pitchFamily="18" charset="0"/>
                <a:cs typeface="Times New Roman" panose="02020603050405020304" pitchFamily="18" charset="0"/>
              </a:rPr>
              <a:t>Limitation : Less security-centric , and there exists no general purpose models that can find vulnerable source and sinks.</a:t>
            </a:r>
          </a:p>
          <a:p>
            <a:endParaRPr lang="en-IN" sz="27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30A6A3AB-1D4D-7C9A-CB82-FF837C040293}"/>
              </a:ext>
            </a:extLst>
          </p:cNvPr>
          <p:cNvGraphicFramePr>
            <a:graphicFrameLocks noGrp="1"/>
          </p:cNvGraphicFramePr>
          <p:nvPr/>
        </p:nvGraphicFramePr>
        <p:xfrm>
          <a:off x="2226470" y="6069330"/>
          <a:ext cx="15028068" cy="548640"/>
        </p:xfrm>
        <a:graphic>
          <a:graphicData uri="http://schemas.openxmlformats.org/drawingml/2006/table">
            <a:tbl>
              <a:tblPr/>
              <a:tblGrid>
                <a:gridCol w="15028068">
                  <a:extLst>
                    <a:ext uri="{9D8B030D-6E8A-4147-A177-3AD203B41FA5}">
                      <a16:colId xmlns:a16="http://schemas.microsoft.com/office/drawing/2014/main" val="1735084877"/>
                    </a:ext>
                  </a:extLst>
                </a:gridCol>
              </a:tblGrid>
              <a:tr h="548640">
                <a:tc>
                  <a:txBody>
                    <a:bodyPr/>
                    <a:lstStyle/>
                    <a:p>
                      <a:pPr>
                        <a:buNone/>
                      </a:pPr>
                      <a:endParaRPr lang="en-IN" sz="2700"/>
                    </a:p>
                  </a:txBody>
                  <a:tcPr marL="137160" marR="137160" marT="68580" marB="68580" anchor="ctr">
                    <a:lnL>
                      <a:noFill/>
                    </a:lnL>
                    <a:lnR>
                      <a:noFill/>
                    </a:lnR>
                    <a:lnT>
                      <a:noFill/>
                    </a:lnT>
                    <a:lnB>
                      <a:noFill/>
                    </a:lnB>
                    <a:noFill/>
                  </a:tcPr>
                </a:tc>
                <a:extLst>
                  <a:ext uri="{0D108BD9-81ED-4DB2-BD59-A6C34878D82A}">
                    <a16:rowId xmlns:a16="http://schemas.microsoft.com/office/drawing/2014/main" val="709103547"/>
                  </a:ext>
                </a:extLst>
              </a:tr>
            </a:tbl>
          </a:graphicData>
        </a:graphic>
      </p:graphicFrame>
      <p:graphicFrame>
        <p:nvGraphicFramePr>
          <p:cNvPr id="9" name="Table 8">
            <a:extLst>
              <a:ext uri="{FF2B5EF4-FFF2-40B4-BE49-F238E27FC236}">
                <a16:creationId xmlns:a16="http://schemas.microsoft.com/office/drawing/2014/main" id="{0889A47D-D95F-51EB-9F70-D8843FD54BFE}"/>
              </a:ext>
            </a:extLst>
          </p:cNvPr>
          <p:cNvGraphicFramePr>
            <a:graphicFrameLocks noGrp="1"/>
          </p:cNvGraphicFramePr>
          <p:nvPr/>
        </p:nvGraphicFramePr>
        <p:xfrm>
          <a:off x="2219901" y="5296085"/>
          <a:ext cx="15028068" cy="1783080"/>
        </p:xfrm>
        <a:graphic>
          <a:graphicData uri="http://schemas.openxmlformats.org/drawingml/2006/table">
            <a:tbl>
              <a:tblPr/>
              <a:tblGrid>
                <a:gridCol w="15028068">
                  <a:extLst>
                    <a:ext uri="{9D8B030D-6E8A-4147-A177-3AD203B41FA5}">
                      <a16:colId xmlns:a16="http://schemas.microsoft.com/office/drawing/2014/main" val="2457113419"/>
                    </a:ext>
                  </a:extLst>
                </a:gridCol>
              </a:tblGrid>
              <a:tr h="1783080">
                <a:tc>
                  <a:txBody>
                    <a:bodyPr/>
                    <a:lstStyle/>
                    <a:p>
                      <a:pPr>
                        <a:buNone/>
                      </a:pPr>
                      <a:endParaRPr lang="en-IN" sz="2700" dirty="0"/>
                    </a:p>
                    <a:p>
                      <a:pPr>
                        <a:buNone/>
                      </a:pPr>
                      <a:r>
                        <a:rPr lang="en-IN" sz="2700" dirty="0">
                          <a:latin typeface="Times New Roman" panose="02020603050405020304" pitchFamily="18" charset="0"/>
                          <a:cs typeface="Times New Roman" panose="02020603050405020304" pitchFamily="18" charset="0"/>
                        </a:rPr>
                        <a:t>Limitation : Scans packages in isolation and lacks correlating the findings , and also cannot completely solve for every existing static code vulnerabilities.</a:t>
                      </a:r>
                    </a:p>
                    <a:p>
                      <a:pPr>
                        <a:buNone/>
                      </a:pPr>
                      <a:endParaRPr lang="en-IN" sz="2700" dirty="0">
                        <a:latin typeface="Times New Roman" panose="02020603050405020304" pitchFamily="18" charset="0"/>
                        <a:cs typeface="Times New Roman" panose="02020603050405020304" pitchFamily="18" charset="0"/>
                      </a:endParaRPr>
                    </a:p>
                  </a:txBody>
                  <a:tcPr marL="137160" marR="137160" marT="68580" marB="68580" anchor="ctr">
                    <a:lnL>
                      <a:noFill/>
                    </a:lnL>
                    <a:lnR>
                      <a:noFill/>
                    </a:lnR>
                    <a:lnT>
                      <a:noFill/>
                    </a:lnT>
                    <a:lnB>
                      <a:noFill/>
                    </a:lnB>
                    <a:noFill/>
                  </a:tcPr>
                </a:tc>
                <a:extLst>
                  <a:ext uri="{0D108BD9-81ED-4DB2-BD59-A6C34878D82A}">
                    <a16:rowId xmlns:a16="http://schemas.microsoft.com/office/drawing/2014/main" val="444507057"/>
                  </a:ext>
                </a:extLst>
              </a:tr>
            </a:tbl>
          </a:graphicData>
        </a:graphic>
      </p:graphicFrame>
      <p:graphicFrame>
        <p:nvGraphicFramePr>
          <p:cNvPr id="14" name="Table 13">
            <a:extLst>
              <a:ext uri="{FF2B5EF4-FFF2-40B4-BE49-F238E27FC236}">
                <a16:creationId xmlns:a16="http://schemas.microsoft.com/office/drawing/2014/main" id="{D1672F02-6C47-B6E2-82EF-93ECCE26329D}"/>
              </a:ext>
            </a:extLst>
          </p:cNvPr>
          <p:cNvGraphicFramePr>
            <a:graphicFrameLocks noGrp="1"/>
          </p:cNvGraphicFramePr>
          <p:nvPr/>
        </p:nvGraphicFramePr>
        <p:xfrm>
          <a:off x="2278894" y="4002681"/>
          <a:ext cx="12056540" cy="548640"/>
        </p:xfrm>
        <a:graphic>
          <a:graphicData uri="http://schemas.openxmlformats.org/drawingml/2006/table">
            <a:tbl>
              <a:tblPr/>
              <a:tblGrid>
                <a:gridCol w="12056540">
                  <a:extLst>
                    <a:ext uri="{9D8B030D-6E8A-4147-A177-3AD203B41FA5}">
                      <a16:colId xmlns:a16="http://schemas.microsoft.com/office/drawing/2014/main" val="2659441020"/>
                    </a:ext>
                  </a:extLst>
                </a:gridCol>
              </a:tblGrid>
              <a:tr h="548640">
                <a:tc>
                  <a:txBody>
                    <a:bodyPr/>
                    <a:lstStyle/>
                    <a:p>
                      <a:pPr>
                        <a:buNone/>
                      </a:pPr>
                      <a:endParaRPr lang="en-IN" sz="2700" dirty="0"/>
                    </a:p>
                  </a:txBody>
                  <a:tcPr marL="137160" marR="137160" marT="68580" marB="68580" anchor="ctr">
                    <a:lnL>
                      <a:noFill/>
                    </a:lnL>
                    <a:lnR>
                      <a:noFill/>
                    </a:lnR>
                    <a:lnT>
                      <a:noFill/>
                    </a:lnT>
                    <a:lnB>
                      <a:noFill/>
                    </a:lnB>
                    <a:noFill/>
                  </a:tcPr>
                </a:tc>
                <a:extLst>
                  <a:ext uri="{0D108BD9-81ED-4DB2-BD59-A6C34878D82A}">
                    <a16:rowId xmlns:a16="http://schemas.microsoft.com/office/drawing/2014/main" val="811586945"/>
                  </a:ext>
                </a:extLst>
              </a:tr>
            </a:tbl>
          </a:graphicData>
        </a:graphic>
      </p:graphicFrame>
    </p:spTree>
    <p:extLst>
      <p:ext uri="{BB962C8B-B14F-4D97-AF65-F5344CB8AC3E}">
        <p14:creationId xmlns:p14="http://schemas.microsoft.com/office/powerpoint/2010/main" val="4099538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Freeform 3"/>
          <p:cNvSpPr/>
          <p:nvPr/>
        </p:nvSpPr>
        <p:spPr>
          <a:xfrm>
            <a:off x="152400" y="1524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4" name="Freeform 4"/>
          <p:cNvSpPr/>
          <p:nvPr/>
        </p:nvSpPr>
        <p:spPr>
          <a:xfrm>
            <a:off x="2927027" y="2518734"/>
            <a:ext cx="11916501" cy="6001583"/>
          </a:xfrm>
          <a:custGeom>
            <a:avLst/>
            <a:gdLst/>
            <a:ahLst/>
            <a:cxnLst/>
            <a:rect l="l" t="t" r="r" b="b"/>
            <a:pathLst>
              <a:path w="11916501" h="6001583">
                <a:moveTo>
                  <a:pt x="0" y="0"/>
                </a:moveTo>
                <a:lnTo>
                  <a:pt x="11916501" y="0"/>
                </a:lnTo>
                <a:lnTo>
                  <a:pt x="11916501" y="6001584"/>
                </a:lnTo>
                <a:lnTo>
                  <a:pt x="0" y="6001584"/>
                </a:lnTo>
                <a:lnTo>
                  <a:pt x="0" y="0"/>
                </a:lnTo>
                <a:close/>
              </a:path>
            </a:pathLst>
          </a:custGeom>
          <a:blipFill>
            <a:blip r:embed="rId3"/>
            <a:stretch>
              <a:fillRect/>
            </a:stretch>
          </a:blipFill>
        </p:spPr>
      </p:sp>
      <p:sp>
        <p:nvSpPr>
          <p:cNvPr id="5" name="TextBox 5"/>
          <p:cNvSpPr txBox="1"/>
          <p:nvPr/>
        </p:nvSpPr>
        <p:spPr>
          <a:xfrm>
            <a:off x="1028700" y="962025"/>
            <a:ext cx="6794897" cy="554990"/>
          </a:xfrm>
          <a:prstGeom prst="rect">
            <a:avLst/>
          </a:prstGeom>
        </p:spPr>
        <p:txBody>
          <a:bodyPr lIns="0" tIns="0" rIns="0" bIns="0" rtlCol="0" anchor="t">
            <a:spAutoFit/>
          </a:bodyPr>
          <a:lstStyle/>
          <a:p>
            <a:pPr algn="ctr">
              <a:lnSpc>
                <a:spcPts val="4480"/>
              </a:lnSpc>
              <a:spcBef>
                <a:spcPct val="0"/>
              </a:spcBef>
            </a:pPr>
            <a:r>
              <a:rPr lang="en-US" sz="3200" b="1">
                <a:solidFill>
                  <a:srgbClr val="000000"/>
                </a:solidFill>
                <a:latin typeface="Cooper BT Bold"/>
                <a:ea typeface="Cooper BT Bold"/>
                <a:cs typeface="Cooper BT Bold"/>
                <a:sym typeface="Cooper BT Bold"/>
              </a:rPr>
              <a:t>IMPLEMENTATION PROGRESS :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Freeform 3"/>
          <p:cNvSpPr/>
          <p:nvPr/>
        </p:nvSpPr>
        <p:spPr>
          <a:xfrm>
            <a:off x="152400" y="1524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4" name="Freeform 4"/>
          <p:cNvSpPr/>
          <p:nvPr/>
        </p:nvSpPr>
        <p:spPr>
          <a:xfrm>
            <a:off x="2446224" y="1605052"/>
            <a:ext cx="13381186" cy="7069306"/>
          </a:xfrm>
          <a:custGeom>
            <a:avLst/>
            <a:gdLst/>
            <a:ahLst/>
            <a:cxnLst/>
            <a:rect l="l" t="t" r="r" b="b"/>
            <a:pathLst>
              <a:path w="13381186" h="7069306">
                <a:moveTo>
                  <a:pt x="0" y="0"/>
                </a:moveTo>
                <a:lnTo>
                  <a:pt x="13381186" y="0"/>
                </a:lnTo>
                <a:lnTo>
                  <a:pt x="13381186" y="7069306"/>
                </a:lnTo>
                <a:lnTo>
                  <a:pt x="0" y="7069306"/>
                </a:lnTo>
                <a:lnTo>
                  <a:pt x="0" y="0"/>
                </a:lnTo>
                <a:close/>
              </a:path>
            </a:pathLst>
          </a:custGeom>
          <a:blipFill>
            <a:blip r:embed="rId3"/>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Freeform 3"/>
          <p:cNvSpPr/>
          <p:nvPr/>
        </p:nvSpPr>
        <p:spPr>
          <a:xfrm>
            <a:off x="152400" y="1524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4" name="Freeform 4"/>
          <p:cNvSpPr/>
          <p:nvPr/>
        </p:nvSpPr>
        <p:spPr>
          <a:xfrm>
            <a:off x="892756" y="1284638"/>
            <a:ext cx="7169029" cy="7717725"/>
          </a:xfrm>
          <a:custGeom>
            <a:avLst/>
            <a:gdLst/>
            <a:ahLst/>
            <a:cxnLst/>
            <a:rect l="l" t="t" r="r" b="b"/>
            <a:pathLst>
              <a:path w="7169029" h="7717725">
                <a:moveTo>
                  <a:pt x="0" y="0"/>
                </a:moveTo>
                <a:lnTo>
                  <a:pt x="7169029" y="0"/>
                </a:lnTo>
                <a:lnTo>
                  <a:pt x="7169029" y="7717724"/>
                </a:lnTo>
                <a:lnTo>
                  <a:pt x="0" y="7717724"/>
                </a:lnTo>
                <a:lnTo>
                  <a:pt x="0" y="0"/>
                </a:lnTo>
                <a:close/>
              </a:path>
            </a:pathLst>
          </a:custGeom>
          <a:blipFill>
            <a:blip r:embed="rId3"/>
            <a:stretch>
              <a:fillRect/>
            </a:stretch>
          </a:blipFill>
        </p:spPr>
      </p:sp>
      <p:sp>
        <p:nvSpPr>
          <p:cNvPr id="5" name="Freeform 5"/>
          <p:cNvSpPr/>
          <p:nvPr/>
        </p:nvSpPr>
        <p:spPr>
          <a:xfrm>
            <a:off x="9296400" y="1284638"/>
            <a:ext cx="7534812" cy="7608956"/>
          </a:xfrm>
          <a:custGeom>
            <a:avLst/>
            <a:gdLst/>
            <a:ahLst/>
            <a:cxnLst/>
            <a:rect l="l" t="t" r="r" b="b"/>
            <a:pathLst>
              <a:path w="7534812" h="7608956">
                <a:moveTo>
                  <a:pt x="0" y="0"/>
                </a:moveTo>
                <a:lnTo>
                  <a:pt x="7534812" y="0"/>
                </a:lnTo>
                <a:lnTo>
                  <a:pt x="7534812" y="7608955"/>
                </a:lnTo>
                <a:lnTo>
                  <a:pt x="0" y="7608955"/>
                </a:lnTo>
                <a:lnTo>
                  <a:pt x="0" y="0"/>
                </a:lnTo>
                <a:close/>
              </a:path>
            </a:pathLst>
          </a:custGeom>
          <a:blipFill>
            <a:blip r:embed="rId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1357</TotalTime>
  <Words>273</Words>
  <Application>Microsoft Office PowerPoint</Application>
  <PresentationFormat>Custom</PresentationFormat>
  <Paragraphs>22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vt:lpstr>
      <vt:lpstr>Times New Roman</vt:lpstr>
      <vt:lpstr>Canva Sans</vt:lpstr>
      <vt:lpstr>Arial</vt:lpstr>
      <vt:lpstr>Cooper BT Bold</vt:lpstr>
      <vt:lpstr>Office Theme</vt:lpstr>
      <vt:lpstr>Team ID : H26DSI07  Project Title : SENTINEL – AI ( An Autonomous application security platform                    focusing SAST)  Team Leader : JEBIN RUFUS R   Team Members :  1. JOSHUA DANIELL A 2. HARSHINI A   College : RAJALAKSHMI INSTITUTE OF TECHNOLOGY  </vt:lpstr>
      <vt:lpstr>PROBLEM STATEMENT</vt:lpstr>
      <vt:lpstr>SYSTEM DESIGN</vt:lpstr>
      <vt:lpstr>EXISTING SOLUTIONS AND GAPS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 a</dc:title>
  <dc:creator>Harshini Aathi</dc:creator>
  <cp:lastModifiedBy>Harshini Aathi</cp:lastModifiedBy>
  <cp:revision>3</cp:revision>
  <dcterms:created xsi:type="dcterms:W3CDTF">2006-08-16T00:00:00Z</dcterms:created>
  <dcterms:modified xsi:type="dcterms:W3CDTF">2026-08-01T09:32:51Z</dcterms:modified>
  <dc:identifier>DAHQ7_QUihY</dc:identifier>
</cp:coreProperties>
</file>